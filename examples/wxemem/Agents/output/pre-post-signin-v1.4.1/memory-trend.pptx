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Before-PnP</c:v>
                </c:pt>
              </c:strCache>
            </c:strRef>
          </c:tx>
          <c:spPr>
            <a:ln w="31750">
              <a:solidFill>
                <a:srgbClr val="187DC4"/>
              </a:solidFill>
            </a:ln>
          </c:spPr>
          <c:marker>
            <c:symbol val="circle"/>
            <c:size val="5"/>
            <c:spPr>
              <a:solidFill>
                <a:srgbClr val="187DC4"/>
              </a:solidFill>
              <a:ln w="31750">
                <a:solidFill>
                  <a:srgbClr val="187DC4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1.3821792602539063</c:v>
                </c:pt>
                <c:pt idx="1">
                  <c:v>1.4523773193359375</c:v>
                </c:pt>
                <c:pt idx="2">
                  <c:v>1.6710662841796875</c:v>
                </c:pt>
                <c:pt idx="3">
                  <c:v>1.5584373474121094</c:v>
                </c:pt>
                <c:pt idx="4">
                  <c:v>1.9060325622558594</c:v>
                </c:pt>
                <c:pt idx="5">
                  <c:v>1.9118614196777344</c:v>
                </c:pt>
                <c:pt idx="6">
                  <c:v>1.9315986633300781</c:v>
                </c:pt>
                <c:pt idx="7">
                  <c:v>1.9755477905273438</c:v>
                </c:pt>
                <c:pt idx="8">
                  <c:v>1.8817062377929688</c:v>
                </c:pt>
                <c:pt idx="9">
                  <c:v>1.9453392028808594</c:v>
                </c:pt>
                <c:pt idx="10">
                  <c:v>2.4560546875</c:v>
                </c:pt>
                <c:pt idx="11">
                  <c:v>2.4491119384765625</c:v>
                </c:pt>
                <c:pt idx="12">
                  <c:v>2.47039794921875</c:v>
                </c:pt>
                <c:pt idx="13">
                  <c:v>2.3513298034667969</c:v>
                </c:pt>
                <c:pt idx="14">
                  <c:v>2.3298492431640625</c:v>
                </c:pt>
                <c:pt idx="15">
                  <c:v>2.3481903076171875</c:v>
                </c:pt>
                <c:pt idx="16">
                  <c:v>2.738861083984375</c:v>
                </c:pt>
                <c:pt idx="17">
                  <c:v>2.2497062683105469</c:v>
                </c:pt>
                <c:pt idx="18">
                  <c:v>2.3297882080078125</c:v>
                </c:pt>
                <c:pt idx="19">
                  <c:v>1.623626708984375</c:v>
                </c:pt>
                <c:pt idx="20">
                  <c:v>1.7075042724609375</c:v>
                </c:pt>
                <c:pt idx="21">
                  <c:v>1.6183891296386719</c:v>
                </c:pt>
                <c:pt idx="22">
                  <c:v>1.6092491149902344</c:v>
                </c:pt>
                <c:pt idx="23">
                  <c:v>1.5022392272949219</c:v>
                </c:pt>
                <c:pt idx="24">
                  <c:v>1.6159896850585938</c:v>
                </c:pt>
                <c:pt idx="25">
                  <c:v>1.4199180603027344</c:v>
                </c:pt>
                <c:pt idx="26">
                  <c:v>1.5805549621582031</c:v>
                </c:pt>
                <c:pt idx="27">
                  <c:v>1.6224822998046875</c:v>
                </c:pt>
                <c:pt idx="28">
                  <c:v>1.6095199584960938</c:v>
                </c:pt>
                <c:pt idx="29">
                  <c:v>1.5958290100097656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81-47AE-BB9A-79DF510E82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Post-PnP</c:v>
                </c:pt>
              </c:strCache>
            </c:strRef>
          </c:tx>
          <c:spPr>
            <a:ln w="31750">
              <a:solidFill>
                <a:srgbClr val="E67F29"/>
              </a:solidFill>
            </a:ln>
          </c:spPr>
          <c:marker>
            <c:symbol val="square"/>
            <c:size val="5"/>
            <c:spPr>
              <a:solidFill>
                <a:srgbClr val="E67F29"/>
              </a:solidFill>
              <a:ln w="31750">
                <a:solidFill>
                  <a:srgbClr val="E67F29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2.0569000244140625</c:v>
                </c:pt>
                <c:pt idx="1">
                  <c:v>2.679412841796875</c:v>
                </c:pt>
                <c:pt idx="2">
                  <c:v>2.1697959899902344</c:v>
                </c:pt>
                <c:pt idx="3">
                  <c:v>2.1421661376953125</c:v>
                </c:pt>
                <c:pt idx="4">
                  <c:v>2.4978675842285156</c:v>
                </c:pt>
                <c:pt idx="5">
                  <c:v>2.4652557373046875</c:v>
                </c:pt>
                <c:pt idx="6">
                  <c:v>2.5204124450683594</c:v>
                </c:pt>
                <c:pt idx="7">
                  <c:v>2.5523719787597656</c:v>
                </c:pt>
                <c:pt idx="8">
                  <c:v>2.5290031433105469</c:v>
                </c:pt>
                <c:pt idx="9">
                  <c:v>2.5394973754882813</c:v>
                </c:pt>
                <c:pt idx="10">
                  <c:v>3.3713874816894531</c:v>
                </c:pt>
                <c:pt idx="11">
                  <c:v>3.3913421630859375</c:v>
                </c:pt>
                <c:pt idx="12">
                  <c:v>3.5632858276367188</c:v>
                </c:pt>
                <c:pt idx="13">
                  <c:v>3.2750282287597656</c:v>
                </c:pt>
                <c:pt idx="14">
                  <c:v>3.25616455078125</c:v>
                </c:pt>
                <c:pt idx="15">
                  <c:v>3.1944999694824219</c:v>
                </c:pt>
                <c:pt idx="16">
                  <c:v>3.8689231872558594</c:v>
                </c:pt>
                <c:pt idx="17">
                  <c:v>3.2462348937988281</c:v>
                </c:pt>
                <c:pt idx="18">
                  <c:v>3.27001953125</c:v>
                </c:pt>
                <c:pt idx="19">
                  <c:v>2.7265663146972656</c:v>
                </c:pt>
                <c:pt idx="20">
                  <c:v>2.7558708190917969</c:v>
                </c:pt>
                <c:pt idx="21">
                  <c:v>2.4855308532714844</c:v>
                </c:pt>
                <c:pt idx="22">
                  <c:v>2.5295791625976563</c:v>
                </c:pt>
                <c:pt idx="23">
                  <c:v>2.6555671691894531</c:v>
                </c:pt>
                <c:pt idx="24">
                  <c:v>2.5154342651367188</c:v>
                </c:pt>
                <c:pt idx="25">
                  <c:v>2.6336021423339844</c:v>
                </c:pt>
                <c:pt idx="26">
                  <c:v>2.5350265502929688</c:v>
                </c:pt>
                <c:pt idx="27">
                  <c:v>2.4971847534179688</c:v>
                </c:pt>
                <c:pt idx="28">
                  <c:v>2.4991950988769531</c:v>
                </c:pt>
                <c:pt idx="29">
                  <c:v>2.5194168090820313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81-47AE-BB9A-79DF510E82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Sign-in</c:v>
                </c:pt>
              </c:strCache>
            </c:strRef>
          </c:tx>
          <c:spPr>
            <a:ln w="31750">
              <a:solidFill>
                <a:srgbClr val="2B9B57"/>
              </a:solidFill>
            </a:ln>
          </c:spPr>
          <c:marker>
            <c:symbol val="triangle"/>
            <c:size val="5"/>
            <c:spPr>
              <a:solidFill>
                <a:srgbClr val="2B9B57"/>
              </a:solidFill>
              <a:ln w="31750">
                <a:solidFill>
                  <a:srgbClr val="2B9B57"/>
                </a:solidFill>
                <a:prstDash val="solid"/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6">
                  <c:v>3.42572021484375</c:v>
                </c:pt>
                <c:pt idx="7">
                  <c:v>3.3538436889648438</c:v>
                </c:pt>
                <c:pt idx="8">
                  <c:v>3.76031494140625</c:v>
                </c:pt>
                <c:pt idx="9">
                  <c:v>3.3383216857910156</c:v>
                </c:pt>
                <c:pt idx="10">
                  <c:v>3.658599853515625</c:v>
                </c:pt>
                <c:pt idx="11">
                  <c:v>3.4139823913574219</c:v>
                </c:pt>
                <c:pt idx="12">
                  <c:v>3.8003959655761719</c:v>
                </c:pt>
                <c:pt idx="13">
                  <c:v>3.7296218872070313</c:v>
                </c:pt>
                <c:pt idx="14">
                  <c:v>3.7236404418945313</c:v>
                </c:pt>
                <c:pt idx="15">
                  <c:v>3.7954483032226563</c:v>
                </c:pt>
                <c:pt idx="16">
                  <c:v>3.924896240234375</c:v>
                </c:pt>
                <c:pt idx="17">
                  <c:v>3.9193649291992188</c:v>
                </c:pt>
                <c:pt idx="18">
                  <c:v>3.6739959716796875</c:v>
                </c:pt>
                <c:pt idx="19">
                  <c:v>2.9917793273925781</c:v>
                </c:pt>
                <c:pt idx="20">
                  <c:v>3.041412353515625</c:v>
                </c:pt>
                <c:pt idx="21">
                  <c:v>3.0177230834960938</c:v>
                </c:pt>
                <c:pt idx="22">
                  <c:v>3.0326881408691406</c:v>
                </c:pt>
                <c:pt idx="23">
                  <c:v>3.0516586303710938</c:v>
                </c:pt>
                <c:pt idx="24">
                  <c:v>3.0889511108398438</c:v>
                </c:pt>
                <c:pt idx="25">
                  <c:v>3.0034065246582031</c:v>
                </c:pt>
                <c:pt idx="26">
                  <c:v>3.006591796875</c:v>
                </c:pt>
                <c:pt idx="27">
                  <c:v>3.0643806457519531</c:v>
                </c:pt>
                <c:pt idx="28">
                  <c:v>3.0907783508300781</c:v>
                </c:pt>
                <c:pt idx="29">
                  <c:v>3.0141868591308594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81-47AE-BB9A-79DF510E8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27468095"/>
        <c:axId val="1267082192"/>
      </c:lineChart>
      <c:catAx>
        <c:axId val="1327468095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Build date (2026); one category per build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267082192"/>
        <c:crosses val="autoZero"/>
        <c:auto val="0"/>
        <c:lblAlgn val="ctr"/>
        <c:lblOffset val="100"/>
        <c:tickLblSkip val="1"/>
        <c:noMultiLvlLbl val="0"/>
      </c:catAx>
      <c:valAx>
        <c:axId val="1267082192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Physical memory used (GiB)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1327468095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A7875-F3C8-4AC4-B44E-A5FD39232BE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BD078-906C-4753-9566-4DE0E6D40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4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Generator version: 1.4.1</a:t>
            </a:r>
          </a:p>
          <a:p>
            <a:r>
              <a:rPr lang="en-US"/>
              <a:t>Metric: physical.used_bytes / 1073741824. Equal category spacing, not elapsed time. Dates are build dates, not capture dates.</a:t>
            </a:r>
          </a:p>
          <a:p>
            <a:r>
              <a:rPr lang="en-US"/>
              <a:t>See memory-trend.csv for all build IDs, exact bytes, versions, and source paths.</a:t>
            </a:r>
          </a:p>
          <a:p>
            <a:r>
              <a:rPr lang="en-US"/>
              <a:t>Each series summary uses its own eligible captures; these may cover different build dates.</a:t>
            </a:r>
          </a:p>
          <a:p>
            <a:r>
              <a:rPr lang="en-US"/>
              <a:t>Before-PnP stages: beforepnp, prepnp*, nopnp. Post-PnP stages: afterpnp, postpnp*, pnp.</a:t>
            </a:r>
          </a:p>
          <a:p>
            <a:r>
              <a:rPr lang="en-US"/>
              <a:t>Sign-in stages: xboxappsignin, signin, postsignin. presignin and Steam sign-in stages excluded.</a:t>
            </a:r>
          </a:p>
          <a:p>
            <a:r>
              <a:rPr lang="en-US"/>
              <a:t>Missing before-PnP captures:</a:t>
            </a:r>
          </a:p>
          <a:p>
            <a:r>
              <a:rPr lang="en-US"/>
              <a:t>Missing post-PnP captures:</a:t>
            </a:r>
          </a:p>
          <a:p>
            <a:r>
              <a:rPr lang="en-US"/>
              <a:t>Missing sign-in captures:</a:t>
            </a:r>
          </a:p>
          <a:p>
            <a:r>
              <a:rPr lang="en-US"/>
              <a:t>29597.1000.260517-1700: no sign-in stage</a:t>
            </a:r>
          </a:p>
          <a:p>
            <a:r>
              <a:rPr lang="en-US"/>
              <a:t>29597.1001.260518-1700: no sign-in stage</a:t>
            </a:r>
          </a:p>
          <a:p>
            <a:r>
              <a:rPr lang="en-US"/>
              <a:t>29597.1002.260519-1700: no sign-in stage</a:t>
            </a:r>
          </a:p>
          <a:p>
            <a:r>
              <a:rPr lang="en-US"/>
              <a:t>29597.1003.260520-1700: no sign-in stage</a:t>
            </a:r>
          </a:p>
          <a:p>
            <a:r>
              <a:rPr lang="en-US"/>
              <a:t>29598.1000.260521-1800: no sign-in stage</a:t>
            </a:r>
          </a:p>
          <a:p>
            <a:r>
              <a:rPr lang="en-US"/>
              <a:t>29600.1004.260526-1700: no sign-in stage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BD078-906C-4753-9566-4DE0E6D40A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6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46A5-FD27-4044-7D24-C4DDDE768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FE86C-D0D0-3E7A-1BCB-A1A4DA397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424FB-0A92-AE57-7094-AAE474C0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6FD1F-7752-977D-0ED2-5229E585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E7545-1AE1-A767-13CD-1641CD92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9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062A9-4A49-1598-0842-10EE47AF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6CAF-1FB3-DBE0-E0D2-7017EDEB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2E601-33FC-6D99-E398-309986A8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6963F-980A-E51B-0C81-81DBCAE9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D58E-AF99-55FB-B102-771C5A27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2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B5B6-76F1-A391-D948-D99126D10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528C3-C034-9658-2479-141ABE9AA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9C954-FC9C-2A0F-1BBE-38049E29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2D735-FB36-224C-E2B9-85D25843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A66D-4DB8-E785-3D3A-DA946D9E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7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17F62-4E27-8072-FBB4-35024520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463B5-6C1B-13B1-ADFB-3AB8FF561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E58BF-CCD8-C926-8AF3-83CCB3CAF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B7D9F-369D-5316-59F0-68B9D81A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EE6DA-9B94-D793-D531-4AD12536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8AEF7-D2E1-2BAE-A5E8-11A3CDDF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37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A4D4-C9DC-9ABA-37E9-7ABC7225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C7E95-ECD3-D675-7B77-B45F1B3DE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CC6F8-AE6E-21FE-BD77-CFBA33590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F9A75-D7B8-A4E3-C852-0619D80E5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A108EA-B639-E36D-9B9A-D0FFD20B1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6A07D-62C8-8CB4-865B-4CC08372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0D411-81FD-B537-4761-ABA71924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492EF-4D78-5D54-0AB8-54B1BB19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1B9D-EB78-5229-B404-483181A6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4607B-7EB3-C3B3-591E-33A8A152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DF501-24AC-A74E-9922-49B7E937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98656-A23E-9643-FD72-DA4BFB4C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BC55-A47D-2CC3-0C10-2A3F6418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76016-02A9-2290-7C98-A2716EE4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8770B-94B1-BAEA-A5BB-3D1863ED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5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EA3D-9B85-B37B-DE10-D681A0B9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71D9-AF16-5EBF-F471-3F384C77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D6D8C-A134-F51A-EDF6-757796E1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324DE-378E-627E-10F5-33912FE4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26F43-F56A-3E63-4ED7-E76972B2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15184-A7F0-55A6-BE7B-C6177D53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1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7C30-72EB-E82A-336A-E6C32C122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6C657B-91D0-715E-BD80-DAA664C13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47B83-8098-0BA1-E857-2BBA4D7FE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C1057-889F-2E13-0E7E-8D9E8C82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96BED-DDCF-F070-D155-CF34D72A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6DA8B-5540-8E85-565E-02B88024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9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6A95-AD84-1AAD-85A8-DF6F7BAB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DBD-6C5F-2FDB-1086-7B8EB4FC0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76AC7-1B87-74FD-AFA0-8632CE1C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B91D-68BB-ABCC-0CC3-BDFCB279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67236-5B96-0960-E190-1F1F182B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9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81A51-1755-720F-69B0-70B5ACFC4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266C5-AF24-DD9F-069D-F6522CFAA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D15F4-F315-4462-548B-DAFEF2B5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E93C0-26AC-AA7A-60A0-5E9DEB19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68581-1B75-3327-CCCF-F5F66B31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9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3147C-DEC4-31B4-96F2-22AF5733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4DFB6-9ADA-3A9C-CB13-04A6E60CA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F0BF1-4CB9-196B-7BA1-50193EB89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C479A-D6D2-43AB-8033-76A66523CE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8EA47-9EF2-F6BA-EB93-E77E3AA22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D38F7-E3CF-C53F-497C-5804F3AD9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C805D-C52A-49F7-95AF-44DE3F1C2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2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EBC13F-0451-5A15-0E2E-48CBFB76D61B}"/>
              </a:ext>
            </a:extLst>
          </p:cNvPr>
          <p:cNvSpPr txBox="1"/>
          <p:nvPr/>
        </p:nvSpPr>
        <p:spPr>
          <a:xfrm>
            <a:off x="457200" y="228600"/>
            <a:ext cx="1371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182438"/>
                </a:solidFill>
                <a:latin typeface="Aptos" panose="020B0004020202020204" pitchFamily="34" charset="0"/>
              </a:rPr>
              <a:t>Trending memory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69AD0-B0C0-2C2E-8949-E94448B69C2F}"/>
              </a:ext>
            </a:extLst>
          </p:cNvPr>
          <p:cNvSpPr txBox="1"/>
          <p:nvPr/>
        </p:nvSpPr>
        <p:spPr>
          <a:xfrm>
            <a:off x="482600" y="914400"/>
            <a:ext cx="1371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506070"/>
                </a:solidFill>
                <a:latin typeface="Aptos" panose="020B0004020202020204" pitchFamily="34" charset="0"/>
              </a:rPr>
              <a:t>Kennan | WXE | Before-PnP / post-PnP / sign-in | physical.used_bytes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EA992-EA13-FCE8-E7F4-F3EE4CF589A8}"/>
              </a:ext>
            </a:extLst>
          </p:cNvPr>
          <p:cNvSpPr txBox="1"/>
          <p:nvPr/>
        </p:nvSpPr>
        <p:spPr>
          <a:xfrm>
            <a:off x="482600" y="13843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7DC4"/>
                </a:solidFill>
                <a:latin typeface="Aptos" panose="020B0004020202020204" pitchFamily="34" charset="0"/>
              </a:rPr>
              <a:t>Before-PnP: latest 1.60 GiB (2026-09-21) | first 1.38 GiB | change +0.21 GiB | peak 2.74 GiB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78A46-56A7-ED5B-0DA2-09FBCF4C91BA}"/>
              </a:ext>
            </a:extLst>
          </p:cNvPr>
          <p:cNvSpPr txBox="1"/>
          <p:nvPr/>
        </p:nvSpPr>
        <p:spPr>
          <a:xfrm>
            <a:off x="482600" y="16764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E67F29"/>
                </a:solidFill>
                <a:latin typeface="Aptos" panose="020B0004020202020204" pitchFamily="34" charset="0"/>
              </a:rPr>
              <a:t>Post-PnP: latest 2.52 GiB (2026-09-21) | first 2.06 GiB | change +0.46 GiB | peak 3.87 GiB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F8253-2712-C0A8-3750-B7C4283E1E9A}"/>
              </a:ext>
            </a:extLst>
          </p:cNvPr>
          <p:cNvSpPr txBox="1"/>
          <p:nvPr/>
        </p:nvSpPr>
        <p:spPr>
          <a:xfrm>
            <a:off x="482600" y="19685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2B9B57"/>
                </a:solidFill>
                <a:latin typeface="Aptos" panose="020B0004020202020204" pitchFamily="34" charset="0"/>
              </a:rPr>
              <a:t>Sign-in: latest 3.01 GiB (2026-09-21) | first 3.43 GiB | change -0.41 GiB | peak 3.92 GiB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7C3E714-E1F9-FD91-F898-E09F80DC6A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132348"/>
              </p:ext>
            </p:extLst>
          </p:nvPr>
        </p:nvGraphicFramePr>
        <p:xfrm>
          <a:off x="406400" y="2413000"/>
          <a:ext cx="13817600" cy="474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87943B-2783-1C10-BBAB-EF84C2B0BC69}"/>
              </a:ext>
            </a:extLst>
          </p:cNvPr>
          <p:cNvSpPr txBox="1"/>
          <p:nvPr/>
        </p:nvSpPr>
        <p:spPr>
          <a:xfrm>
            <a:off x="482600" y="72136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2438"/>
                </a:solidFill>
                <a:latin typeface="Aptos" panose="020B0004020202020204" pitchFamily="34" charset="0"/>
              </a:rPr>
              <a:t>Captures: before-PnP 30/30 | post-PnP 30/30 | sign-in 24/30 | 2026-05-17 to 2026-09-21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DA05B-81C1-D89A-6A55-D50AC4539088}"/>
              </a:ext>
            </a:extLst>
          </p:cNvPr>
          <p:cNvSpPr txBox="1"/>
          <p:nvPr/>
        </p:nvSpPr>
        <p:spPr>
          <a:xfrm>
            <a:off x="482600" y="7620000"/>
            <a:ext cx="1371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506070"/>
                </a:solidFill>
                <a:latin typeface="Aptos" panose="020B0004020202020204" pitchFamily="34" charset="0"/>
              </a:rPr>
              <a:t>Sign-in: xboxappsignin / signin / postsignin. Direct JSON only; missing captures are gaps, not zero.</a:t>
            </a:r>
          </a:p>
        </p:txBody>
      </p:sp>
    </p:spTree>
    <p:extLst>
      <p:ext uri="{BB962C8B-B14F-4D97-AF65-F5344CB8AC3E}">
        <p14:creationId xmlns:p14="http://schemas.microsoft.com/office/powerpoint/2010/main" val="4111304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Hoi Vo</dc:creator>
  <cp:lastModifiedBy>Hoi Vo</cp:lastModifiedBy>
  <cp:revision>1</cp:revision>
  <dcterms:created xsi:type="dcterms:W3CDTF">2026-09-24T00:04:09Z</dcterms:created>
  <dcterms:modified xsi:type="dcterms:W3CDTF">2026-09-24T00:04:09Z</dcterms:modified>
</cp:coreProperties>
</file>