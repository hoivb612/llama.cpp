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Before-PnP</c:v>
                </c:pt>
              </c:strCache>
            </c:strRef>
          </c:tx>
          <c:spPr>
            <a:ln w="31750">
              <a:solidFill>
                <a:srgbClr val="187DC4"/>
              </a:solidFill>
            </a:ln>
          </c:spPr>
          <c:marker>
            <c:symbol val="circle"/>
            <c:size val="5"/>
            <c:spPr>
              <a:solidFill>
                <a:srgbClr val="187DC4"/>
              </a:solidFill>
              <a:ln w="31750">
                <a:solidFill>
                  <a:srgbClr val="187DC4"/>
                </a:solidFill>
                <a:prstDash val="solid"/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1.3821792602539063</c:v>
                </c:pt>
                <c:pt idx="1">
                  <c:v>1.4523773193359375</c:v>
                </c:pt>
                <c:pt idx="2">
                  <c:v>1.6710662841796875</c:v>
                </c:pt>
                <c:pt idx="3">
                  <c:v>1.5584373474121094</c:v>
                </c:pt>
                <c:pt idx="4">
                  <c:v>1.9060325622558594</c:v>
                </c:pt>
                <c:pt idx="5">
                  <c:v>1.9118614196777344</c:v>
                </c:pt>
                <c:pt idx="6">
                  <c:v>1.9315986633300781</c:v>
                </c:pt>
                <c:pt idx="7">
                  <c:v>1.9755477905273438</c:v>
                </c:pt>
                <c:pt idx="8">
                  <c:v>1.8817062377929688</c:v>
                </c:pt>
                <c:pt idx="9">
                  <c:v>1.9453392028808594</c:v>
                </c:pt>
                <c:pt idx="10">
                  <c:v>2.4560546875</c:v>
                </c:pt>
                <c:pt idx="11">
                  <c:v>2.4491119384765625</c:v>
                </c:pt>
                <c:pt idx="12">
                  <c:v>2.47039794921875</c:v>
                </c:pt>
                <c:pt idx="13">
                  <c:v>2.3513298034667969</c:v>
                </c:pt>
                <c:pt idx="14">
                  <c:v>2.3298492431640625</c:v>
                </c:pt>
                <c:pt idx="15">
                  <c:v>2.3481903076171875</c:v>
                </c:pt>
                <c:pt idx="16">
                  <c:v>2.738861083984375</c:v>
                </c:pt>
                <c:pt idx="17">
                  <c:v>2.2497062683105469</c:v>
                </c:pt>
                <c:pt idx="18">
                  <c:v>2.3297882080078125</c:v>
                </c:pt>
                <c:pt idx="19">
                  <c:v>1.623626708984375</c:v>
                </c:pt>
                <c:pt idx="20">
                  <c:v>1.7075042724609375</c:v>
                </c:pt>
                <c:pt idx="21">
                  <c:v>1.6183891296386719</c:v>
                </c:pt>
                <c:pt idx="22">
                  <c:v>1.6092491149902344</c:v>
                </c:pt>
                <c:pt idx="23">
                  <c:v>1.5022392272949219</c:v>
                </c:pt>
                <c:pt idx="24">
                  <c:v>1.6159896850585938</c:v>
                </c:pt>
                <c:pt idx="25">
                  <c:v>1.4199180603027344</c:v>
                </c:pt>
                <c:pt idx="26">
                  <c:v>1.5805549621582031</c:v>
                </c:pt>
                <c:pt idx="27">
                  <c:v>1.6224822998046875</c:v>
                </c:pt>
                <c:pt idx="28">
                  <c:v>1.6095199584960938</c:v>
                </c:pt>
                <c:pt idx="29">
                  <c:v>1.5958290100097656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F3-472C-8505-79F82C734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Post-PnP</c:v>
                </c:pt>
              </c:strCache>
            </c:strRef>
          </c:tx>
          <c:spPr>
            <a:ln w="31750">
              <a:solidFill>
                <a:srgbClr val="E67F29"/>
              </a:solidFill>
            </a:ln>
          </c:spPr>
          <c:marker>
            <c:symbol val="square"/>
            <c:size val="5"/>
            <c:spPr>
              <a:solidFill>
                <a:srgbClr val="E67F29"/>
              </a:solidFill>
              <a:ln w="31750">
                <a:solidFill>
                  <a:srgbClr val="E67F29"/>
                </a:solidFill>
                <a:prstDash val="solid"/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2.0569000244140625</c:v>
                </c:pt>
                <c:pt idx="1">
                  <c:v>2.679412841796875</c:v>
                </c:pt>
                <c:pt idx="2">
                  <c:v>2.1697959899902344</c:v>
                </c:pt>
                <c:pt idx="3">
                  <c:v>2.1421661376953125</c:v>
                </c:pt>
                <c:pt idx="4">
                  <c:v>2.4978675842285156</c:v>
                </c:pt>
                <c:pt idx="5">
                  <c:v>2.4652557373046875</c:v>
                </c:pt>
                <c:pt idx="6">
                  <c:v>2.5204124450683594</c:v>
                </c:pt>
                <c:pt idx="7">
                  <c:v>2.5523719787597656</c:v>
                </c:pt>
                <c:pt idx="8">
                  <c:v>2.5290031433105469</c:v>
                </c:pt>
                <c:pt idx="9">
                  <c:v>2.5394973754882813</c:v>
                </c:pt>
                <c:pt idx="10">
                  <c:v>3.3713874816894531</c:v>
                </c:pt>
                <c:pt idx="11">
                  <c:v>3.3913421630859375</c:v>
                </c:pt>
                <c:pt idx="12">
                  <c:v>3.5632858276367188</c:v>
                </c:pt>
                <c:pt idx="13">
                  <c:v>3.2750282287597656</c:v>
                </c:pt>
                <c:pt idx="14">
                  <c:v>3.25616455078125</c:v>
                </c:pt>
                <c:pt idx="15">
                  <c:v>3.1944999694824219</c:v>
                </c:pt>
                <c:pt idx="16">
                  <c:v>3.8689231872558594</c:v>
                </c:pt>
                <c:pt idx="17">
                  <c:v>3.2462348937988281</c:v>
                </c:pt>
                <c:pt idx="18">
                  <c:v>3.27001953125</c:v>
                </c:pt>
                <c:pt idx="19">
                  <c:v>2.7265663146972656</c:v>
                </c:pt>
                <c:pt idx="20">
                  <c:v>2.7558708190917969</c:v>
                </c:pt>
                <c:pt idx="21">
                  <c:v>2.4855308532714844</c:v>
                </c:pt>
                <c:pt idx="22">
                  <c:v>2.5295791625976563</c:v>
                </c:pt>
                <c:pt idx="23">
                  <c:v>2.6555671691894531</c:v>
                </c:pt>
                <c:pt idx="24">
                  <c:v>2.5154342651367188</c:v>
                </c:pt>
                <c:pt idx="25">
                  <c:v>2.6336021423339844</c:v>
                </c:pt>
                <c:pt idx="26">
                  <c:v>2.5350265502929688</c:v>
                </c:pt>
                <c:pt idx="27">
                  <c:v>2.4971847534179688</c:v>
                </c:pt>
                <c:pt idx="28">
                  <c:v>2.4991950988769531</c:v>
                </c:pt>
                <c:pt idx="29">
                  <c:v>2.5194168090820313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F3-472C-8505-79F82C7347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Sign-in</c:v>
                </c:pt>
              </c:strCache>
            </c:strRef>
          </c:tx>
          <c:spPr>
            <a:ln w="31750">
              <a:solidFill>
                <a:srgbClr val="2B9B57"/>
              </a:solidFill>
            </a:ln>
          </c:spPr>
          <c:marker>
            <c:symbol val="triangle"/>
            <c:size val="5"/>
            <c:spPr>
              <a:solidFill>
                <a:srgbClr val="2B9B57"/>
              </a:solidFill>
              <a:ln w="31750">
                <a:solidFill>
                  <a:srgbClr val="2B9B57"/>
                </a:solidFill>
                <a:prstDash val="solid"/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6">
                  <c:v>3.42572021484375</c:v>
                </c:pt>
                <c:pt idx="7">
                  <c:v>3.3538436889648438</c:v>
                </c:pt>
                <c:pt idx="8">
                  <c:v>3.76031494140625</c:v>
                </c:pt>
                <c:pt idx="9">
                  <c:v>3.3383216857910156</c:v>
                </c:pt>
                <c:pt idx="11">
                  <c:v>3.4139823913574219</c:v>
                </c:pt>
                <c:pt idx="12">
                  <c:v>3.8003959655761719</c:v>
                </c:pt>
                <c:pt idx="13">
                  <c:v>3.7296218872070313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7F3-472C-8505-79F82C734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0522752"/>
        <c:axId val="556153456"/>
      </c:lineChart>
      <c:catAx>
        <c:axId val="7905227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Build date (2026); one category per build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556153456"/>
        <c:crosses val="autoZero"/>
        <c:auto val="0"/>
        <c:lblAlgn val="ctr"/>
        <c:lblOffset val="100"/>
        <c:tickLblSkip val="1"/>
        <c:noMultiLvlLbl val="0"/>
      </c:catAx>
      <c:valAx>
        <c:axId val="556153456"/>
        <c:scaling>
          <c:orientation val="minMax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Physical memory used (GiB)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790522752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0B401-022E-4CFD-8835-215671C9847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4A627-8F31-4794-ACD3-00C871E3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18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Generator version: 1.4.0</a:t>
            </a:r>
          </a:p>
          <a:p>
            <a:r>
              <a:rPr lang="en-US"/>
              <a:t>Metric: physical.used_bytes / 1073741824. Equal category spacing, not elapsed time. Dates are build dates, not capture dates.</a:t>
            </a:r>
          </a:p>
          <a:p>
            <a:r>
              <a:rPr lang="en-US"/>
              <a:t>See memory-trend.csv for all build IDs, exact bytes, versions, and source paths.</a:t>
            </a:r>
          </a:p>
          <a:p>
            <a:r>
              <a:rPr lang="en-US"/>
              <a:t>Each series summary uses its own eligible captures; these may cover different build dates.</a:t>
            </a:r>
          </a:p>
          <a:p>
            <a:r>
              <a:rPr lang="en-US"/>
              <a:t>Before-PnP stages: beforepnp, prepnp*, nopnp. Post-PnP stages: afterpnp, postpnp*, pnp.</a:t>
            </a:r>
          </a:p>
          <a:p>
            <a:r>
              <a:rPr lang="en-US"/>
              <a:t>Sign-in stages: xboxappsignin, signin. postsignin, presignin, and Steam sign-in stages excluded.</a:t>
            </a:r>
          </a:p>
          <a:p>
            <a:r>
              <a:rPr lang="en-US"/>
              <a:t>Missing before-PnP captures:</a:t>
            </a:r>
          </a:p>
          <a:p>
            <a:r>
              <a:rPr lang="en-US"/>
              <a:t>Missing post-PnP captures:</a:t>
            </a:r>
          </a:p>
          <a:p>
            <a:r>
              <a:rPr lang="en-US"/>
              <a:t>Missing sign-in captures:</a:t>
            </a:r>
          </a:p>
          <a:p>
            <a:r>
              <a:rPr lang="en-US"/>
              <a:t>29597.1000.260517-1700: no sign-in stage</a:t>
            </a:r>
          </a:p>
          <a:p>
            <a:r>
              <a:rPr lang="en-US"/>
              <a:t>29597.1001.260518-1700: no sign-in stage</a:t>
            </a:r>
          </a:p>
          <a:p>
            <a:r>
              <a:rPr lang="en-US"/>
              <a:t>29597.1002.260519-1700: no sign-in stage</a:t>
            </a:r>
          </a:p>
          <a:p>
            <a:r>
              <a:rPr lang="en-US"/>
              <a:t>29597.1003.260520-1700: no sign-in stage</a:t>
            </a:r>
          </a:p>
          <a:p>
            <a:r>
              <a:rPr lang="en-US"/>
              <a:t>29598.1000.260521-1800: no sign-in stage</a:t>
            </a:r>
          </a:p>
          <a:p>
            <a:r>
              <a:rPr lang="en-US"/>
              <a:t>29600.1004.260526-1700: no sign-in stage</a:t>
            </a:r>
          </a:p>
          <a:p>
            <a:r>
              <a:rPr lang="en-US"/>
              <a:t>29614.1002.260615-1700: no direct sign-in JSON (nested folders ignored)</a:t>
            </a:r>
          </a:p>
          <a:p>
            <a:r>
              <a:rPr lang="en-US"/>
              <a:t>29643.1001.260803-1700: no sign-in stage</a:t>
            </a:r>
          </a:p>
          <a:p>
            <a:r>
              <a:rPr lang="en-US"/>
              <a:t>29643.1002.260804-1700: no sign-in stage</a:t>
            </a:r>
          </a:p>
          <a:p>
            <a:r>
              <a:rPr lang="en-US"/>
              <a:t>29644.1001.260806-1700: no sign-in stage</a:t>
            </a:r>
          </a:p>
          <a:p>
            <a:r>
              <a:rPr lang="en-US"/>
              <a:t>29651.1002.260816-1700: no sign-in stage</a:t>
            </a:r>
          </a:p>
          <a:p>
            <a:r>
              <a:rPr lang="en-US"/>
              <a:t>29658.1000.260827-1700: no sign-in stage</a:t>
            </a:r>
          </a:p>
          <a:p>
            <a:r>
              <a:rPr lang="en-US"/>
              <a:t>29660.1001.260830-1700: no sign-in stage</a:t>
            </a:r>
          </a:p>
          <a:p>
            <a:r>
              <a:rPr lang="en-US"/>
              <a:t>29660.1004.260902-1700: no sign-in stage</a:t>
            </a:r>
          </a:p>
          <a:p>
            <a:r>
              <a:rPr lang="en-US"/>
              <a:t>29667.1001.260908-1700: no sign-in stage</a:t>
            </a:r>
          </a:p>
          <a:p>
            <a:r>
              <a:rPr lang="en-US"/>
              <a:t>29668.1000.260910-1700: no sign-in stage</a:t>
            </a:r>
          </a:p>
          <a:p>
            <a:r>
              <a:rPr lang="en-US"/>
              <a:t>29671.1000.260913-1700: no sign-in stage</a:t>
            </a:r>
          </a:p>
          <a:p>
            <a:r>
              <a:rPr lang="en-US"/>
              <a:t>29671.1001.260914-1700: no sign-in stage</a:t>
            </a:r>
          </a:p>
          <a:p>
            <a:r>
              <a:rPr lang="en-US"/>
              <a:t>29671.1002.260915-1700: no sign-in stage</a:t>
            </a:r>
          </a:p>
          <a:p>
            <a:r>
              <a:rPr lang="en-US"/>
              <a:t>29671.1003.260916-1700: no sign-in stage</a:t>
            </a:r>
          </a:p>
          <a:p>
            <a:r>
              <a:rPr lang="en-US"/>
              <a:t>29671.1004.260917-1700: no sign-in stage</a:t>
            </a:r>
          </a:p>
          <a:p>
            <a:r>
              <a:rPr lang="en-US"/>
              <a:t>29671.1007.260920-1700: no sign-in stage</a:t>
            </a:r>
          </a:p>
          <a:p>
            <a:r>
              <a:rPr lang="en-US"/>
              <a:t>29671.1008.260921-1700: no sign-in stage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4A627-8F31-4794-ACD3-00C871E32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3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4F38-F51A-C7F9-98FA-87E115853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2C69B-58C4-6A5F-1368-F458348D5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53919-E9FD-29DD-4173-B845C61A7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737B0-C1AF-6A73-EBAD-D731517B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708DF-0CEB-C220-718F-57AFBA29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1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B7FE6-D530-58F1-5D8D-4B883FB81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EC1D-BC90-87DC-0A06-E5DC69011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441F-FE5F-4197-01E1-DF9E10A4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4264C-9A02-B733-FFDC-F726743A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78340-AE4F-35CF-87E9-DD41A702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0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9593-6E55-D859-217A-2B8D0048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8"/>
            <a:ext cx="12618720" cy="34232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3D444-4F5E-1656-8262-6C4E94D6C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8"/>
            <a:ext cx="12618720" cy="180022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939C6-5156-7786-B7F0-E9DCB0D48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C429C-F74D-8232-AF9B-4C3B8CF0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7B3A5-667D-4024-50A7-447B92C2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4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09CE-C7EE-AD11-4343-8083C675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93CBC-CBB8-D563-8E91-7DED0A3FC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69DF2-E6AE-A205-F724-A3AA9D436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D508E-6702-4988-1F3E-CBC9EB0A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F8BE7-5BA7-5D36-F0CB-457BA4D5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9DCB6-7FA0-FF28-6976-6EC75661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8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AC88-DB58-A469-4788-8FAEE16F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2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D0307-14F0-4BE2-3E45-D0E610A3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B9B00-5314-8E1E-DE55-AB757343E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469EF-0FE8-49D5-BFBE-4C84A5FDC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66AE0F-099E-BD1E-4917-D6D287565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B7D0A-D8F7-B70F-E6E7-F6A9B5C4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B8109-10BD-AF4C-90E1-959389D9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1DF4E-589A-F797-6104-D79487E1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7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1F50-20ED-7DAF-57B5-6AB71EB2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3E345-151F-E9B8-BB97-05F0BF2F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601AE-A0E7-8C2C-999D-A11D76A3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F7249-1A70-DDD3-03DD-61C20C8E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3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893FF-0D68-7362-E789-671E9299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721F4-3BA3-0677-5EAE-616ED6ABB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087AE-CB13-CBDD-15DA-5B7298DC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24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2A39-0BDE-B26F-848E-064BF3115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38630-8D73-EE0C-7332-62DCB50C2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5538F-3702-00AA-EB6B-8C1D1E27D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70C9F-76EA-D0AC-CF93-08AC8AF5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83C4-6D53-4FDB-BCCE-1E6AC91A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6F3D5-E59C-77BD-8696-50E616557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7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5BD8-08C5-14EA-902F-344695F8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F3AAF-F477-B3B3-AFB0-BE6FA88D0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BC9F5-F0AE-145A-27C9-C22599212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1F9EE-C44A-580A-A5AC-20949321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9DACF-F987-1E69-1C6C-4EB737F9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B443F-AE5D-4049-4DE3-E3491C0B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4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CBE2-383F-86E5-E214-16D090E7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34BE5-EB9D-709A-8A28-D60782409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1192A-25B1-3099-5FBD-200CC4B89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84FB6-1025-CE2F-C724-238E018C3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482C4-CABF-C3EA-3C07-55010F6E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3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51149-80B3-2252-CD52-23F7E22F9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0D20B4-1A80-8F07-C77B-52B24B3F6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8661-E862-4F53-AFE0-6A771CBE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CE624-8E63-B00D-9701-44359B229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1572A-8829-25AB-5B34-F9CF8E00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5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AEC5A6-0901-193E-EA23-F0B67822F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40BD1-F306-DC94-D844-989A1D9CD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39D14-14C8-DB09-9F2E-9D8C5B533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FB9BD-D551-46D3-9342-F2A4AEA481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4F092-4F22-9BE6-0926-52A9B3FAD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487FA-25E3-D48E-C6F4-EC4DDA5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CA667E-A690-4064-94AC-8C6D9C8D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7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2246F6-BAA5-62C8-A62D-F9302A2E24BE}"/>
              </a:ext>
            </a:extLst>
          </p:cNvPr>
          <p:cNvSpPr txBox="1"/>
          <p:nvPr/>
        </p:nvSpPr>
        <p:spPr>
          <a:xfrm>
            <a:off x="457200" y="228600"/>
            <a:ext cx="1371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>
                <a:solidFill>
                  <a:srgbClr val="182438"/>
                </a:solidFill>
                <a:latin typeface="Aptos" panose="020B0004020202020204" pitchFamily="34" charset="0"/>
              </a:rPr>
              <a:t>Trending memory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CC111-E62C-ECB6-C8F2-0DE1B9A6D2F8}"/>
              </a:ext>
            </a:extLst>
          </p:cNvPr>
          <p:cNvSpPr txBox="1"/>
          <p:nvPr/>
        </p:nvSpPr>
        <p:spPr>
          <a:xfrm>
            <a:off x="482600" y="914400"/>
            <a:ext cx="13716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506070"/>
                </a:solidFill>
                <a:latin typeface="Aptos" panose="020B0004020202020204" pitchFamily="34" charset="0"/>
              </a:rPr>
              <a:t>Kennan | WXE | Before-PnP / post-PnP / sign-in | physical.used_bytes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D5A93-132E-04BC-69CB-B047FC7E0B52}"/>
              </a:ext>
            </a:extLst>
          </p:cNvPr>
          <p:cNvSpPr txBox="1"/>
          <p:nvPr/>
        </p:nvSpPr>
        <p:spPr>
          <a:xfrm>
            <a:off x="482600" y="13843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187DC4"/>
                </a:solidFill>
                <a:latin typeface="Aptos" panose="020B0004020202020204" pitchFamily="34" charset="0"/>
              </a:rPr>
              <a:t>Before-PnP: latest 1.60 GiB (2026-09-21) | first 1.38 GiB | change +0.21 GiB | peak 2.74 GiB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F92CE-29E3-A945-570E-66492B9F439F}"/>
              </a:ext>
            </a:extLst>
          </p:cNvPr>
          <p:cNvSpPr txBox="1"/>
          <p:nvPr/>
        </p:nvSpPr>
        <p:spPr>
          <a:xfrm>
            <a:off x="482600" y="16764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E67F29"/>
                </a:solidFill>
                <a:latin typeface="Aptos" panose="020B0004020202020204" pitchFamily="34" charset="0"/>
              </a:rPr>
              <a:t>Post-PnP: latest 2.52 GiB (2026-09-21) | first 2.06 GiB | change +0.46 GiB | peak 3.87 GiB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02612-FE0D-B08E-7ADE-329D31469BA6}"/>
              </a:ext>
            </a:extLst>
          </p:cNvPr>
          <p:cNvSpPr txBox="1"/>
          <p:nvPr/>
        </p:nvSpPr>
        <p:spPr>
          <a:xfrm>
            <a:off x="482600" y="19685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2B9B57"/>
                </a:solidFill>
                <a:latin typeface="Aptos" panose="020B0004020202020204" pitchFamily="34" charset="0"/>
              </a:rPr>
              <a:t>Sign-in: latest 3.73 GiB (2026-07-27) | first 3.43 GiB | change +0.30 GiB | peak 3.80 GiB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D122B7A-E785-0240-036A-8A468ECF2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551421"/>
              </p:ext>
            </p:extLst>
          </p:nvPr>
        </p:nvGraphicFramePr>
        <p:xfrm>
          <a:off x="406400" y="2413000"/>
          <a:ext cx="13817600" cy="474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F8C19BE-0B87-F802-59BE-2A6F75C9B4C0}"/>
              </a:ext>
            </a:extLst>
          </p:cNvPr>
          <p:cNvSpPr txBox="1"/>
          <p:nvPr/>
        </p:nvSpPr>
        <p:spPr>
          <a:xfrm>
            <a:off x="482600" y="72136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182438"/>
                </a:solidFill>
                <a:latin typeface="Aptos" panose="020B0004020202020204" pitchFamily="34" charset="0"/>
              </a:rPr>
              <a:t>Captures: before-PnP 30/30 | post-PnP 30/30 | sign-in 7/30 | 2026-05-17 to 2026-09-21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6F838-4947-A9F6-5464-CD4171C4F50A}"/>
              </a:ext>
            </a:extLst>
          </p:cNvPr>
          <p:cNvSpPr txBox="1"/>
          <p:nvPr/>
        </p:nvSpPr>
        <p:spPr>
          <a:xfrm>
            <a:off x="482600" y="7620000"/>
            <a:ext cx="1371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506070"/>
                </a:solidFill>
                <a:latin typeface="Aptos" panose="020B0004020202020204" pitchFamily="34" charset="0"/>
              </a:rPr>
              <a:t>Sign-in: xboxappsignin / signin only (not postsignin). Direct JSON only; missing captures are gaps, not zero.</a:t>
            </a:r>
          </a:p>
        </p:txBody>
      </p:sp>
    </p:spTree>
    <p:extLst>
      <p:ext uri="{BB962C8B-B14F-4D97-AF65-F5344CB8AC3E}">
        <p14:creationId xmlns:p14="http://schemas.microsoft.com/office/powerpoint/2010/main" val="1673654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Hoi Vo</dc:creator>
  <cp:lastModifiedBy>Hoi Vo</cp:lastModifiedBy>
  <cp:revision>1</cp:revision>
  <dcterms:created xsi:type="dcterms:W3CDTF">2026-09-23T23:52:45Z</dcterms:created>
  <dcterms:modified xsi:type="dcterms:W3CDTF">2026-09-23T23:52:45Z</dcterms:modified>
</cp:coreProperties>
</file>