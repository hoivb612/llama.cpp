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Used physical RAM (GiB)</c:v>
                </c:pt>
              </c:strCache>
            </c:strRef>
          </c:tx>
          <c:spPr>
            <a:ln w="31750">
              <a:solidFill>
                <a:srgbClr val="187DC4"/>
              </a:solidFill>
            </a:ln>
          </c:spPr>
          <c:marker>
            <c:symbol val="circle"/>
            <c:size val="5"/>
            <c:spPr>
              <a:ln w="31750">
                <a:solidFill>
                  <a:srgbClr val="187DC4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05/17</c:v>
                </c:pt>
                <c:pt idx="1">
                  <c:v>05/18</c:v>
                </c:pt>
                <c:pt idx="2">
                  <c:v>05/19</c:v>
                </c:pt>
                <c:pt idx="3">
                  <c:v>05/20</c:v>
                </c:pt>
                <c:pt idx="4">
                  <c:v>05/21</c:v>
                </c:pt>
                <c:pt idx="5">
                  <c:v>05/26</c:v>
                </c:pt>
                <c:pt idx="6">
                  <c:v>05/27</c:v>
                </c:pt>
                <c:pt idx="7">
                  <c:v>05/28</c:v>
                </c:pt>
                <c:pt idx="8">
                  <c:v>05/31</c:v>
                </c:pt>
                <c:pt idx="9">
                  <c:v>06/02</c:v>
                </c:pt>
                <c:pt idx="10">
                  <c:v>06/15</c:v>
                </c:pt>
                <c:pt idx="11">
                  <c:v>06/30</c:v>
                </c:pt>
                <c:pt idx="12">
                  <c:v>07/15</c:v>
                </c:pt>
                <c:pt idx="13">
                  <c:v>07/27</c:v>
                </c:pt>
                <c:pt idx="14">
                  <c:v>08/03</c:v>
                </c:pt>
                <c:pt idx="15">
                  <c:v>08/04</c:v>
                </c:pt>
                <c:pt idx="16">
                  <c:v>08/06</c:v>
                </c:pt>
                <c:pt idx="17">
                  <c:v>08/16</c:v>
                </c:pt>
                <c:pt idx="18">
                  <c:v>08/27</c:v>
                </c:pt>
                <c:pt idx="19">
                  <c:v>08/30</c:v>
                </c:pt>
                <c:pt idx="20">
                  <c:v>09/02</c:v>
                </c:pt>
                <c:pt idx="21">
                  <c:v>09/08</c:v>
                </c:pt>
                <c:pt idx="22">
                  <c:v>09/10</c:v>
                </c:pt>
                <c:pt idx="23">
                  <c:v>09/13</c:v>
                </c:pt>
                <c:pt idx="24">
                  <c:v>09/14</c:v>
                </c:pt>
                <c:pt idx="25">
                  <c:v>09/15</c:v>
                </c:pt>
                <c:pt idx="26">
                  <c:v>09/16</c:v>
                </c:pt>
                <c:pt idx="27">
                  <c:v>09/17</c:v>
                </c:pt>
                <c:pt idx="28">
                  <c:v>09/20</c:v>
                </c:pt>
                <c:pt idx="29">
                  <c:v>09/21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1.3821792602539063</c:v>
                </c:pt>
                <c:pt idx="1">
                  <c:v>1.4523773193359375</c:v>
                </c:pt>
                <c:pt idx="2">
                  <c:v>1.6710662841796875</c:v>
                </c:pt>
                <c:pt idx="3">
                  <c:v>1.5584373474121094</c:v>
                </c:pt>
                <c:pt idx="4">
                  <c:v>1.9060325622558594</c:v>
                </c:pt>
                <c:pt idx="5">
                  <c:v>1.9118614196777344</c:v>
                </c:pt>
                <c:pt idx="6">
                  <c:v>1.9315986633300781</c:v>
                </c:pt>
                <c:pt idx="7">
                  <c:v>1.9755477905273438</c:v>
                </c:pt>
                <c:pt idx="8">
                  <c:v>1.8817062377929688</c:v>
                </c:pt>
                <c:pt idx="9">
                  <c:v>1.9453392028808594</c:v>
                </c:pt>
                <c:pt idx="10">
                  <c:v>2.4560546875</c:v>
                </c:pt>
                <c:pt idx="11">
                  <c:v>2.4491119384765625</c:v>
                </c:pt>
                <c:pt idx="12">
                  <c:v>2.47039794921875</c:v>
                </c:pt>
                <c:pt idx="13">
                  <c:v>2.3513298034667969</c:v>
                </c:pt>
                <c:pt idx="14">
                  <c:v>2.3298492431640625</c:v>
                </c:pt>
                <c:pt idx="15">
                  <c:v>2.3481903076171875</c:v>
                </c:pt>
                <c:pt idx="16">
                  <c:v>2.738861083984375</c:v>
                </c:pt>
                <c:pt idx="17">
                  <c:v>2.2497062683105469</c:v>
                </c:pt>
                <c:pt idx="18">
                  <c:v>2.3297882080078125</c:v>
                </c:pt>
                <c:pt idx="19">
                  <c:v>1.623626708984375</c:v>
                </c:pt>
                <c:pt idx="20">
                  <c:v>1.7075042724609375</c:v>
                </c:pt>
                <c:pt idx="21">
                  <c:v>1.6183891296386719</c:v>
                </c:pt>
                <c:pt idx="22">
                  <c:v>1.6092491149902344</c:v>
                </c:pt>
                <c:pt idx="23">
                  <c:v>1.5022392272949219</c:v>
                </c:pt>
                <c:pt idx="24">
                  <c:v>1.6159896850585938</c:v>
                </c:pt>
                <c:pt idx="25">
                  <c:v>1.4199180603027344</c:v>
                </c:pt>
                <c:pt idx="26">
                  <c:v>1.5805549621582031</c:v>
                </c:pt>
                <c:pt idx="27">
                  <c:v>1.6224822998046875</c:v>
                </c:pt>
                <c:pt idx="28">
                  <c:v>1.6095199584960938</c:v>
                </c:pt>
                <c:pt idx="29">
                  <c:v>1.5958290100097656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B5-42D3-AB4A-B300F75C80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7746016"/>
        <c:axId val="1494050096"/>
      </c:lineChart>
      <c:catAx>
        <c:axId val="139774601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Build date (2026); one category per build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494050096"/>
        <c:crosses val="autoZero"/>
        <c:auto val="0"/>
        <c:lblAlgn val="ctr"/>
        <c:lblOffset val="100"/>
        <c:tickLblSkip val="1"/>
        <c:noMultiLvlLbl val="0"/>
      </c:catAx>
      <c:valAx>
        <c:axId val="1494050096"/>
        <c:scaling>
          <c:orientation val="minMax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Physical memory used (GiB)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1397746016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5D133-7A16-4228-AB06-2EAB6827F3D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FF61A-B131-4B62-93E8-4B024D9A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40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Generator version: 1.2.1</a:t>
            </a:r>
          </a:p>
          <a:p>
            <a:r>
              <a:rPr lang="en-US"/>
              <a:t>Metric: physical.used_bytes / 1073741824. Equal category spacing, not elapsed time.</a:t>
            </a:r>
          </a:p>
          <a:p>
            <a:r>
              <a:rPr lang="en-US"/>
              <a:t>See memory-trend.csv for all build IDs, exact bytes, versions, and source paths.</a:t>
            </a:r>
          </a:p>
          <a:p>
            <a:r>
              <a:rPr lang="en-US"/>
              <a:t>Peak build: 29644.1001.260806-1700. First/latest summaries use eligible captures only.</a:t>
            </a:r>
          </a:p>
          <a:p>
            <a:r>
              <a:rPr lang="en-US"/>
              <a:t>Missing builds: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EFF61A-B131-4B62-93E8-4B024D9ACA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65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286E-385E-E434-EEB1-48DF2E21E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25245-3159-58D0-ECD6-259074694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9F754-5D72-5851-88A7-A766572CC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7841-284C-441C-B7E5-B8083F7C8C6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C41D7-3A5C-862C-DE98-87006889E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B77A6-E08E-385A-F65D-2B8DC020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C9D87-D237-4DAF-99BF-CEEFF0402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63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F13A8-5001-D786-F041-573FC9D3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AB1A-7157-1A45-2C0F-5FA36CB88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69ACE-FC67-1A6B-17A5-1F857CB9C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7841-284C-441C-B7E5-B8083F7C8C6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C6432-1702-DE93-5CAE-59FC914E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BCD10-1642-AE85-8495-8988F74F3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C9D87-D237-4DAF-99BF-CEEFF0402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4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0072-F7A2-FAA2-1A0A-B5184C5DA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8"/>
            <a:ext cx="12618720" cy="342328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B95E2-FC1F-C967-7827-4B6F78425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8"/>
            <a:ext cx="12618720" cy="180022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649DF-E319-46CA-393E-3252BA5E7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7841-284C-441C-B7E5-B8083F7C8C6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7D1FF-E3CC-A862-C8C7-8704A92B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A20A4-E85E-FAA8-C747-8CF22D9B0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C9D87-D237-4DAF-99BF-CEEFF0402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26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42CE7-C743-AA2A-29F1-58C5752C7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6F865-BB27-FBC9-0688-5869C6070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37206-CB3E-8005-8DE4-7421D3323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D015E-050D-52D1-EB52-214F86047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7841-284C-441C-B7E5-B8083F7C8C6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65B92-1A68-88DB-111A-6D127FEA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B833F-71D1-9BB3-E32B-8C4E82289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C9D87-D237-4DAF-99BF-CEEFF0402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4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185F-CC44-BC03-D485-B49B6E19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2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F00CD-721E-AB1A-5751-671676DE7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B626E-A14A-2039-5C61-22F766B2C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5BB47-57D0-AA4D-028D-8ED683652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27901A-47AE-470D-40F1-19707808E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086332-7F73-E5B8-C6FB-8B26B71F1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7841-284C-441C-B7E5-B8083F7C8C6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A56631-D8C6-A74F-115C-A5867AFE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11D5C-CF1C-8769-2F85-4F7FF407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C9D87-D237-4DAF-99BF-CEEFF0402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0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A110-2F02-7C11-26A5-974BB619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F05A5-ABC7-F18B-7428-4A4A318B8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7841-284C-441C-B7E5-B8083F7C8C6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47A56-33A5-441A-B1B4-D2660513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2E72F-A3F0-FC9E-B605-3A12C3B3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C9D87-D237-4DAF-99BF-CEEFF0402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E8935F-8543-88B2-9F42-6B5824AFE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7841-284C-441C-B7E5-B8083F7C8C6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6ED55-1636-43FA-10EA-0D510517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63695-FB02-DECB-BF83-91837C17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C9D87-D237-4DAF-99BF-CEEFF0402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7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9068-61BF-BC4D-DF52-F575EB16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57F9-4FBB-3583-8ECD-EE98F0AF0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708BE-6659-A533-91C6-E2AD36374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3942F-C556-AFB9-31C6-22295907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7841-284C-441C-B7E5-B8083F7C8C6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B5DF1-39D2-447E-72CC-BEDD98829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D2046-0745-65A5-02A7-9980535B6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C9D87-D237-4DAF-99BF-CEEFF0402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81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F155E-31C0-DB72-D710-F813D5340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89B18B-93C3-7DBF-BE80-D71EE72B6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E01C4-1792-34C1-C861-87F749F9B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CFA2C-8EC8-ACA3-3DB7-19685E4FF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7841-284C-441C-B7E5-B8083F7C8C6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56356-9BAB-6303-A721-024E8797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4DA71-1832-2C53-D009-E04B9E46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C9D87-D237-4DAF-99BF-CEEFF0402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02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A45C-E6B0-D277-5F97-0855215D9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D1E36-7C00-11BB-A95A-3E3ECD5E9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CD613-07AF-EE1D-53FE-A93FD803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7841-284C-441C-B7E5-B8083F7C8C6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5073E-B3B9-0B59-63BB-19602CD4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8EAC4-4EBB-BE52-9E5A-41BDBF8E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C9D87-D237-4DAF-99BF-CEEFF0402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2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522A13-F8B9-DE0E-CCD5-3523A67BC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6AC77-B344-A387-0D3F-098C5F389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32C1A-2B3B-C275-65F1-084AE7CB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7841-284C-441C-B7E5-B8083F7C8C6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D9290-FA38-472A-4350-1E31DF8F7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E7675-C518-8CDF-06F1-A2AE4F0B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C9D87-D237-4DAF-99BF-CEEFF0402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8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4DD48-FE46-3C67-9CC2-CAF883875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2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C4A2-5DE4-E913-6659-89E647DF7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E4825-E752-33A6-8F43-93521A445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607841-284C-441C-B7E5-B8083F7C8C6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BCCB1-957C-A355-89AD-47E807A3D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2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1A4F5-C9A7-7F8E-1748-04088F3B6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C9D87-D237-4DAF-99BF-CEEFF0402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E1CD1E-7A0A-3A11-C967-5F59E1EE028F}"/>
              </a:ext>
            </a:extLst>
          </p:cNvPr>
          <p:cNvSpPr txBox="1"/>
          <p:nvPr/>
        </p:nvSpPr>
        <p:spPr>
          <a:xfrm>
            <a:off x="457200" y="228600"/>
            <a:ext cx="1371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>
                <a:solidFill>
                  <a:srgbClr val="182438"/>
                </a:solidFill>
                <a:latin typeface="Aptos" panose="020B0004020202020204" pitchFamily="34" charset="0"/>
              </a:rPr>
              <a:t>Trending memory usage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34070-42D4-BAE8-5459-7DED6D825E5B}"/>
              </a:ext>
            </a:extLst>
          </p:cNvPr>
          <p:cNvSpPr txBox="1"/>
          <p:nvPr/>
        </p:nvSpPr>
        <p:spPr>
          <a:xfrm>
            <a:off x="482600" y="914400"/>
            <a:ext cx="13716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506070"/>
                </a:solidFill>
                <a:latin typeface="Aptos" panose="020B0004020202020204" pitchFamily="34" charset="0"/>
              </a:rPr>
              <a:t>Kennan | WXE | Before-PnP baseline | physical.used_bytes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14AA7-12D5-D55A-8464-0927BDDC59E6}"/>
              </a:ext>
            </a:extLst>
          </p:cNvPr>
          <p:cNvSpPr txBox="1"/>
          <p:nvPr/>
        </p:nvSpPr>
        <p:spPr>
          <a:xfrm>
            <a:off x="482600" y="1435100"/>
            <a:ext cx="13716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182438"/>
                </a:solidFill>
                <a:latin typeface="Aptos" panose="020B0004020202020204" pitchFamily="34" charset="0"/>
              </a:rPr>
              <a:t>First: 1.38 GiB     Latest: 1.60 GiB     Change: +0.21 GiB     Peak: 2.74 GiB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EAA1ED5-452D-F004-E4A9-21FBE20A32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0612117"/>
              </p:ext>
            </p:extLst>
          </p:nvPr>
        </p:nvGraphicFramePr>
        <p:xfrm>
          <a:off x="406400" y="2032000"/>
          <a:ext cx="13817600" cy="513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93B099-4CF5-F40C-BA42-0F9A9AC2DAE0}"/>
              </a:ext>
            </a:extLst>
          </p:cNvPr>
          <p:cNvSpPr txBox="1"/>
          <p:nvPr/>
        </p:nvSpPr>
        <p:spPr>
          <a:xfrm>
            <a:off x="482600" y="7213600"/>
            <a:ext cx="1371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182438"/>
                </a:solidFill>
                <a:latin typeface="Aptos" panose="020B0004020202020204" pitchFamily="34" charset="0"/>
              </a:rPr>
              <a:t>30/30 builds have baseline JSON | 0 gaps | 2026-05-17 to 2026-09-21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240893-7D69-6ACF-4461-4B4954C772BE}"/>
              </a:ext>
            </a:extLst>
          </p:cNvPr>
          <p:cNvSpPr txBox="1"/>
          <p:nvPr/>
        </p:nvSpPr>
        <p:spPr>
          <a:xfrm>
            <a:off x="482600" y="7620000"/>
            <a:ext cx="1371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506070"/>
                </a:solidFill>
                <a:latin typeface="Aptos" panose="020B0004020202020204" pitchFamily="34" charset="0"/>
              </a:rPr>
              <a:t>beforepnp / prepnp* / nopnp; direct JSON only. Gaps are not zero. Dates are build dates, not capture dates.</a:t>
            </a:r>
          </a:p>
        </p:txBody>
      </p:sp>
    </p:spTree>
    <p:extLst>
      <p:ext uri="{BB962C8B-B14F-4D97-AF65-F5344CB8AC3E}">
        <p14:creationId xmlns:p14="http://schemas.microsoft.com/office/powerpoint/2010/main" val="3993509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Hoi Vo</dc:creator>
  <cp:lastModifiedBy>Hoi Vo</cp:lastModifiedBy>
  <cp:revision>1</cp:revision>
  <dcterms:created xsi:type="dcterms:W3CDTF">2026-09-23T22:03:26Z</dcterms:created>
  <dcterms:modified xsi:type="dcterms:W3CDTF">2026-09-23T22:03:26Z</dcterms:modified>
</cp:coreProperties>
</file>