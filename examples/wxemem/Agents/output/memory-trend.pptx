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Used physical RAM (GiB)</c:v>
                </c:pt>
              </c:strCache>
            </c:strRef>
          </c:tx>
          <c:spPr>
            <a:ln w="31750">
              <a:solidFill>
                <a:srgbClr val="187DC4"/>
              </a:solidFill>
            </a:ln>
          </c:spPr>
          <c:marker>
            <c:symbol val="circle"/>
            <c:size val="5"/>
            <c:spPr>
              <a:ln w="31750">
                <a:solidFill>
                  <a:srgbClr val="187DC4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05/17</c:v>
                </c:pt>
                <c:pt idx="1">
                  <c:v>05/18</c:v>
                </c:pt>
                <c:pt idx="2">
                  <c:v>05/19</c:v>
                </c:pt>
                <c:pt idx="3">
                  <c:v>05/20</c:v>
                </c:pt>
                <c:pt idx="4">
                  <c:v>05/21</c:v>
                </c:pt>
                <c:pt idx="5">
                  <c:v>05/26</c:v>
                </c:pt>
                <c:pt idx="6">
                  <c:v>05/27</c:v>
                </c:pt>
                <c:pt idx="7">
                  <c:v>05/28</c:v>
                </c:pt>
                <c:pt idx="8">
                  <c:v>05/31</c:v>
                </c:pt>
                <c:pt idx="9">
                  <c:v>06/02</c:v>
                </c:pt>
                <c:pt idx="10">
                  <c:v>06/15</c:v>
                </c:pt>
                <c:pt idx="11">
                  <c:v>06/30</c:v>
                </c:pt>
                <c:pt idx="12">
                  <c:v>07/15</c:v>
                </c:pt>
                <c:pt idx="13">
                  <c:v>07/27</c:v>
                </c:pt>
                <c:pt idx="14">
                  <c:v>08/03</c:v>
                </c:pt>
                <c:pt idx="15">
                  <c:v>08/04</c:v>
                </c:pt>
                <c:pt idx="16">
                  <c:v>08/06</c:v>
                </c:pt>
                <c:pt idx="17">
                  <c:v>08/16</c:v>
                </c:pt>
                <c:pt idx="18">
                  <c:v>08/27</c:v>
                </c:pt>
                <c:pt idx="19">
                  <c:v>08/30</c:v>
                </c:pt>
                <c:pt idx="20">
                  <c:v>09/02</c:v>
                </c:pt>
                <c:pt idx="21">
                  <c:v>09/08</c:v>
                </c:pt>
                <c:pt idx="22">
                  <c:v>09/10</c:v>
                </c:pt>
                <c:pt idx="23">
                  <c:v>09/13</c:v>
                </c:pt>
                <c:pt idx="24">
                  <c:v>09/14</c:v>
                </c:pt>
                <c:pt idx="25">
                  <c:v>09/15</c:v>
                </c:pt>
                <c:pt idx="26">
                  <c:v>09/16</c:v>
                </c:pt>
                <c:pt idx="27">
                  <c:v>09/17</c:v>
                </c:pt>
                <c:pt idx="28">
                  <c:v>09/20</c:v>
                </c:pt>
                <c:pt idx="29">
                  <c:v>09/21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1.3821792602539063</c:v>
                </c:pt>
                <c:pt idx="1">
                  <c:v>1.4523773193359375</c:v>
                </c:pt>
                <c:pt idx="2">
                  <c:v>1.6710662841796875</c:v>
                </c:pt>
                <c:pt idx="3">
                  <c:v>1.5584373474121094</c:v>
                </c:pt>
                <c:pt idx="4">
                  <c:v>1.9060325622558594</c:v>
                </c:pt>
                <c:pt idx="5">
                  <c:v>1.9118614196777344</c:v>
                </c:pt>
                <c:pt idx="6">
                  <c:v>1.9315986633300781</c:v>
                </c:pt>
                <c:pt idx="7">
                  <c:v>1.9755477905273438</c:v>
                </c:pt>
                <c:pt idx="8">
                  <c:v>1.8817062377929688</c:v>
                </c:pt>
                <c:pt idx="9">
                  <c:v>1.9453392028808594</c:v>
                </c:pt>
                <c:pt idx="10">
                  <c:v>2.4560546875</c:v>
                </c:pt>
                <c:pt idx="11">
                  <c:v>2.4491119384765625</c:v>
                </c:pt>
                <c:pt idx="12">
                  <c:v>2.47039794921875</c:v>
                </c:pt>
                <c:pt idx="13">
                  <c:v>2.3513298034667969</c:v>
                </c:pt>
                <c:pt idx="14">
                  <c:v>2.3298492431640625</c:v>
                </c:pt>
                <c:pt idx="15">
                  <c:v>2.3481903076171875</c:v>
                </c:pt>
                <c:pt idx="16">
                  <c:v>2.738861083984375</c:v>
                </c:pt>
                <c:pt idx="17">
                  <c:v>2.2497062683105469</c:v>
                </c:pt>
                <c:pt idx="18">
                  <c:v>2.3297882080078125</c:v>
                </c:pt>
                <c:pt idx="19">
                  <c:v>1.623626708984375</c:v>
                </c:pt>
                <c:pt idx="20">
                  <c:v>1.7075042724609375</c:v>
                </c:pt>
                <c:pt idx="21">
                  <c:v>1.6183891296386719</c:v>
                </c:pt>
                <c:pt idx="22">
                  <c:v>1.6092491149902344</c:v>
                </c:pt>
                <c:pt idx="23">
                  <c:v>1.5022392272949219</c:v>
                </c:pt>
                <c:pt idx="24">
                  <c:v>1.6159896850585938</c:v>
                </c:pt>
                <c:pt idx="25">
                  <c:v>1.4199180603027344</c:v>
                </c:pt>
                <c:pt idx="26">
                  <c:v>1.5805549621582031</c:v>
                </c:pt>
                <c:pt idx="27">
                  <c:v>1.6224822998046875</c:v>
                </c:pt>
                <c:pt idx="28">
                  <c:v>1.6095199584960938</c:v>
                </c:pt>
                <c:pt idx="29">
                  <c:v>1.5958290100097656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B2-4455-9D2E-D38816B48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7747408"/>
        <c:axId val="1493837456"/>
      </c:lineChart>
      <c:catAx>
        <c:axId val="13977474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Build date (2026); one category per build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493837456"/>
        <c:crosses val="autoZero"/>
        <c:auto val="0"/>
        <c:lblAlgn val="ctr"/>
        <c:lblOffset val="100"/>
        <c:tickLblSkip val="1"/>
        <c:noMultiLvlLbl val="0"/>
      </c:catAx>
      <c:valAx>
        <c:axId val="1493837456"/>
        <c:scaling>
          <c:orientation val="minMax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Physical memory used (GiB)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1397747408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1493B-8BEF-46A9-B423-4E4CD0109FB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D9AFF-02C4-40DC-9FD4-A0691ED37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34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Generator version: 1.2.0</a:t>
            </a:r>
          </a:p>
          <a:p>
            <a:r>
              <a:rPr lang="en-US"/>
              <a:t>Metric: physical.used_bytes / 1073741824. Equal category spacing, not elapsed time.</a:t>
            </a:r>
          </a:p>
          <a:p>
            <a:r>
              <a:rPr lang="en-US"/>
              <a:t>See memory-trend.csv for all build IDs, exact bytes, versions, and source paths.</a:t>
            </a:r>
          </a:p>
          <a:p>
            <a:r>
              <a:rPr lang="en-US"/>
              <a:t>Peak build: 29644.1001.260806-1700. First/latest summaries use eligible captures only.</a:t>
            </a:r>
          </a:p>
          <a:p>
            <a:r>
              <a:rPr lang="en-US"/>
              <a:t>Missing builds: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D9AFF-02C4-40DC-9FD4-A0691ED378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53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C487-7802-BEC7-9AD9-53F712B5E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5B967-8057-00DB-5AE5-5FB6C7A4D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034D-3F0B-783A-E7DC-1688CD48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1075-929C-A01C-B3E7-8B318D62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46AAE-32B5-6299-D1B8-DEFB0BCE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AC66-1823-2CF5-F7A9-8F633612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6356-0882-AC1F-A5D2-97D3F7362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D4EB-271F-DD13-1FA8-D6BE1262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8436-B559-87BB-8C55-B84B5D53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E203-C4C8-B2EC-8F6C-4113E331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9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EA4E-6222-933D-ACE7-A23CAC39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523D9-C86F-271D-D59E-03876D6B6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4D854-ADBA-A377-DEAA-E58A4690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75CAD-440E-E623-D472-C6BC16EF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BB1C6-095C-0955-618D-AB5C80470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7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5DBD-1ACF-9EDA-E499-BC68BE9B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2853-D65A-013E-9EFD-AED484746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8F5AC-FE9C-61CF-F933-58A181CCA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7199E-D107-9E72-4BBD-12E87E29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0F8C8-F2CF-EF89-3C36-3E206137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260E9-210D-518C-1AAE-7AD88DC6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9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BD39-48E2-E68D-50C8-8502EC17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EAF9C-60D8-5A71-352A-8DED19155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A78FF-8D13-1A45-4913-B565065F4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54A55-957B-7E7B-522B-391CA916B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B1A44-3104-70B1-E44C-B4A6C4C0C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DE2CC-FC20-D067-D89E-8747C561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7A889-86F2-EFCA-3598-4FB47A17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3D3A1-9C79-E65B-71E9-E26DFEBE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9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864C-5CDF-42CF-964F-F16D0ECC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846F6-B4C3-BC2D-878D-998CC2B2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AEC59-0131-B4F3-58C3-C6167241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C1EBC-8400-E667-0B72-BA1F1E5D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8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F04DB-82DF-2593-99C5-BF2045E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0FEE9-5441-55F9-038F-DE34BCD8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7CE74-0971-6D22-9D80-9E2DBE4F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7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F071-3A0B-DB38-F298-14B57148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4253-6E6F-7B82-B99D-3CE6034C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B600E-9A03-607B-8104-6917BA969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33B0-8C2A-7FFB-8473-91795F02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E401-635A-7903-C8B8-6240AE0A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131F-72C2-1779-695C-22654C76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6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3D6A-99AA-18C0-F482-F8CFED141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FD18E-A290-EDBD-3852-9F8DBC72C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86702-A736-D42D-05E6-31B02CB8B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14A5D-4DF2-BE62-018B-7F377E3F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53BD4-0DC2-3B03-F662-8CF750EB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AFBB4-7D86-FC4F-6FA8-BA6A5226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0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7D6F-AC9E-74F0-C9B9-8E747AB7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9EE8B-3E66-CF02-DAD3-5BB058BFD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CA9C-22DA-AA98-6D52-280D1E35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1DC5C-F3D4-6ACC-A0CA-BBF2710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9EE5F-BA47-9B06-F776-C60C50A5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9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EE620-9316-8266-BE50-A8103D737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97C60-FFE7-922F-5431-CBB612A68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A64AC-A130-E93F-9AF7-B29D04B2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3C0C-004C-D80F-40B0-B32E89F4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CF201-CAB5-5FF1-7424-9871600B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6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0523A-D336-C0A9-D90F-341FEA66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89552-3593-DE2D-82D5-9B476302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D759-BA11-33BC-DAC9-C52F1CA5F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14F8-D5D3-4A5F-A09F-8D2B1E84A9A1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6638-3BD5-B7E5-23DB-1EAFEDEE4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DC57C-838C-467A-A884-FC9604B5A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622D3-347B-407B-B1E8-88E1B90B9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6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25B89-C949-B4E7-1800-154F4382FC11}"/>
              </a:ext>
            </a:extLst>
          </p:cNvPr>
          <p:cNvSpPr txBox="1"/>
          <p:nvPr/>
        </p:nvSpPr>
        <p:spPr>
          <a:xfrm>
            <a:off x="457200" y="228600"/>
            <a:ext cx="1371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182438"/>
                </a:solidFill>
                <a:latin typeface="Aptos" panose="020B0004020202020204" pitchFamily="34" charset="0"/>
              </a:rPr>
              <a:t>Trending memory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05123-79F6-D886-53EC-31DA97633776}"/>
              </a:ext>
            </a:extLst>
          </p:cNvPr>
          <p:cNvSpPr txBox="1"/>
          <p:nvPr/>
        </p:nvSpPr>
        <p:spPr>
          <a:xfrm>
            <a:off x="482600" y="9144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506070"/>
                </a:solidFill>
                <a:latin typeface="Aptos" panose="020B0004020202020204" pitchFamily="34" charset="0"/>
              </a:rPr>
              <a:t>Kennan | WXE | Before-PnP baseline | physical.used_bytes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F4863-C69F-546E-40A2-8C7F1855E591}"/>
              </a:ext>
            </a:extLst>
          </p:cNvPr>
          <p:cNvSpPr txBox="1"/>
          <p:nvPr/>
        </p:nvSpPr>
        <p:spPr>
          <a:xfrm>
            <a:off x="482600" y="1435100"/>
            <a:ext cx="13716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>
                <a:solidFill>
                  <a:srgbClr val="182438"/>
                </a:solidFill>
                <a:latin typeface="Aptos" panose="020B0004020202020204" pitchFamily="34" charset="0"/>
              </a:rPr>
              <a:t>First: 1.38 GiB     Latest: 1.60 GiB     Change: +0.21 GiB     Peak: 2.74 GiB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5FDDBF4-4195-950F-006D-5C5A42EC7E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2563096"/>
              </p:ext>
            </p:extLst>
          </p:nvPr>
        </p:nvGraphicFramePr>
        <p:xfrm>
          <a:off x="406400" y="2032000"/>
          <a:ext cx="13817600" cy="513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1B7877-1DC2-13E8-663A-459F55EA4E23}"/>
              </a:ext>
            </a:extLst>
          </p:cNvPr>
          <p:cNvSpPr txBox="1"/>
          <p:nvPr/>
        </p:nvSpPr>
        <p:spPr>
          <a:xfrm>
            <a:off x="482600" y="7213600"/>
            <a:ext cx="1371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182438"/>
                </a:solidFill>
                <a:latin typeface="Aptos" panose="020B0004020202020204" pitchFamily="34" charset="0"/>
              </a:rPr>
              <a:t>30/30 builds have baseline JSON | 0 gaps | 2026-05-17 to 2026-09-21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1A67C-4918-6BD0-8175-9FBA4813BFBD}"/>
              </a:ext>
            </a:extLst>
          </p:cNvPr>
          <p:cNvSpPr txBox="1"/>
          <p:nvPr/>
        </p:nvSpPr>
        <p:spPr>
          <a:xfrm>
            <a:off x="482600" y="7620000"/>
            <a:ext cx="1371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506070"/>
                </a:solidFill>
                <a:latin typeface="Aptos" panose="020B0004020202020204" pitchFamily="34" charset="0"/>
              </a:rPr>
              <a:t>beforepnp / prepnp* / nopnp; direct JSON only. Gaps are not zero. Dates are build dates, not capture dates.</a:t>
            </a:r>
          </a:p>
        </p:txBody>
      </p:sp>
    </p:spTree>
    <p:extLst>
      <p:ext uri="{BB962C8B-B14F-4D97-AF65-F5344CB8AC3E}">
        <p14:creationId xmlns:p14="http://schemas.microsoft.com/office/powerpoint/2010/main" val="137138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Hoi Vo</dc:creator>
  <cp:lastModifiedBy>Hoi Vo</cp:lastModifiedBy>
  <cp:revision>1</cp:revision>
  <dcterms:created xsi:type="dcterms:W3CDTF">2026-09-23T21:52:41Z</dcterms:created>
  <dcterms:modified xsi:type="dcterms:W3CDTF">2026-09-23T21:52:41Z</dcterms:modified>
</cp:coreProperties>
</file>