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KV Cache Management in llm-infer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BA6F7"/>
                </a:solidFill>
                <a:latin typeface="Segoe UI"/>
              </a:defRPr>
            </a:pPr>
            <a:r>
              <a:t>Single-Turn  vs  Multi-Turn 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onsolas"/>
              </a:defRPr>
            </a:pPr>
            <a:r>
              <a:t>llm_inference()  ·  llm_infer_multiturn()  ·  llm_multiturn_rewind()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5486400"/>
            <a:ext cx="1097280" cy="32004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5486400"/>
            <a:ext cx="1097280" cy="32004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5486400"/>
            <a:ext cx="1371600" cy="32004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486400"/>
            <a:ext cx="1371600" cy="320040"/>
          </a:xfrm>
          <a:prstGeom prst="roundRect">
            <a:avLst/>
          </a:prstGeom>
          <a:solidFill>
            <a:srgbClr val="45475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  <a:latin typeface="Segoe UI"/>
              </a:defRPr>
            </a:pPr>
            <a:r>
              <a:t>(available)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Single-Turn: llm_inference()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KV cache is cleared (or rewound to PFC prefix) on every call — no conversation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Segoe UI"/>
              </a:defRPr>
            </a:pPr>
            <a:r>
              <a:t>Prompt 1: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18288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201168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22860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645920"/>
            <a:ext cx="2743200" cy="457200"/>
          </a:xfrm>
          <a:prstGeom prst="roundRect">
            <a:avLst/>
          </a:prstGeom>
          <a:solidFill>
            <a:srgbClr val="45475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  <a:latin typeface="Segoe UI"/>
              </a:defRPr>
            </a:pPr>
            <a:r>
              <a:t>(empty)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8BA8"/>
                </a:solidFill>
                <a:latin typeface="Segoe UI"/>
              </a:defRPr>
            </a:pPr>
            <a:r>
              <a:t>▼  llama_kv_self_clear()  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Segoe UI"/>
              </a:defRPr>
            </a:pPr>
            <a:r>
              <a:t>Prompt 2: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743200"/>
            <a:ext cx="18288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743200"/>
            <a:ext cx="201168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743200"/>
            <a:ext cx="22860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743200"/>
            <a:ext cx="2743200" cy="457200"/>
          </a:xfrm>
          <a:prstGeom prst="roundRect">
            <a:avLst/>
          </a:prstGeom>
          <a:solidFill>
            <a:srgbClr val="45475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  <a:latin typeface="Segoe UI"/>
              </a:defRPr>
            </a:pPr>
            <a:r>
              <a:t>(empty)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8BA8"/>
                </a:solidFill>
                <a:latin typeface="Segoe UI"/>
              </a:defRPr>
            </a:pPr>
            <a:r>
              <a:t>▼  llama_kv_self_clear()  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Segoe UI"/>
              </a:defRPr>
            </a:pPr>
            <a:r>
              <a:t>Prompt 3: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840480"/>
            <a:ext cx="18288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840480"/>
            <a:ext cx="201168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40480"/>
            <a:ext cx="22860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840480"/>
            <a:ext cx="2743200" cy="457200"/>
          </a:xfrm>
          <a:prstGeom prst="roundRect">
            <a:avLst/>
          </a:prstGeom>
          <a:solidFill>
            <a:srgbClr val="45475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  <a:latin typeface="Segoe UI"/>
              </a:defRPr>
            </a:pPr>
            <a:r>
              <a:t>(empty)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8BA8"/>
                </a:solidFill>
                <a:latin typeface="Segoe UI"/>
              </a:defRPr>
            </a:pPr>
            <a:r>
              <a:t>❌ Each prompt starts fresh — model has NO memory of prior turns</a:t>
            </a:r>
            <a:br/>
            <a:r>
              <a:t>❌ SYSTEM prompt is re-encoded every single call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Multi-Turn: llm_infer_multiturn()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KV cache accumulates — each turn appends to what's already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Segoe UI"/>
              </a:defRPr>
            </a:pPr>
            <a:r>
              <a:t>Turn 1: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554480"/>
            <a:ext cx="13716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554480"/>
            <a:ext cx="16459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554480"/>
            <a:ext cx="18288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54480"/>
            <a:ext cx="4023360" cy="457200"/>
          </a:xfrm>
          <a:prstGeom prst="roundRect">
            <a:avLst/>
          </a:prstGeom>
          <a:solidFill>
            <a:srgbClr val="45475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  <a:latin typeface="Segoe UI"/>
              </a:defRPr>
            </a:pPr>
            <a:r>
              <a:t>(empty)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9B4FA"/>
                </a:solidFill>
                <a:latin typeface="Segoe UI"/>
              </a:defRPr>
            </a:pPr>
            <a:r>
              <a:t>◄── encoded once ──►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Segoe UI"/>
              </a:defRPr>
            </a:pPr>
            <a:r>
              <a:t>Turn 2: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560320"/>
            <a:ext cx="13716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560320"/>
            <a:ext cx="16459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560320"/>
            <a:ext cx="18288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560320"/>
            <a:ext cx="16459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560320"/>
            <a:ext cx="18288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63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◄─── already in KV cache ───►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063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6E3A1"/>
                </a:solidFill>
                <a:latin typeface="Segoe UI"/>
              </a:defRPr>
            </a:pPr>
            <a:r>
              <a:t>◄─ new ─►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Segoe UI"/>
              </a:defRPr>
            </a:pPr>
            <a:r>
              <a:t>Turn 3: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566160"/>
            <a:ext cx="82296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 b="1">
                <a:solidFill>
                  <a:srgbClr val="1E1E2E"/>
                </a:solidFill>
                <a:latin typeface="Segoe UI"/>
              </a:defRPr>
            </a:pPr>
            <a:r>
              <a:t>SYS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3566160"/>
            <a:ext cx="100584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 b="1">
                <a:solidFill>
                  <a:srgbClr val="1E1E2E"/>
                </a:solidFill>
                <a:latin typeface="Segoe UI"/>
              </a:defRPr>
            </a:pPr>
            <a:r>
              <a:t>U: p1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566160"/>
            <a:ext cx="109728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 b="1">
                <a:solidFill>
                  <a:srgbClr val="1E1E2E"/>
                </a:solidFill>
                <a:latin typeface="Segoe UI"/>
              </a:defRPr>
            </a:pPr>
            <a:r>
              <a:t>R1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3566160"/>
            <a:ext cx="100584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 b="1">
                <a:solidFill>
                  <a:srgbClr val="1E1E2E"/>
                </a:solidFill>
                <a:latin typeface="Segoe UI"/>
              </a:defRPr>
            </a:pPr>
            <a:r>
              <a:t>U: p2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566160"/>
            <a:ext cx="109728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 b="1">
                <a:solidFill>
                  <a:srgbClr val="1E1E2E"/>
                </a:solidFill>
                <a:latin typeface="Segoe UI"/>
              </a:defRPr>
            </a:pPr>
            <a:r>
              <a:t>R2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566160"/>
            <a:ext cx="137160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 b="1">
                <a:solidFill>
                  <a:srgbClr val="1E1E2E"/>
                </a:solidFill>
                <a:latin typeface="Segoe UI"/>
              </a:defRPr>
            </a:pPr>
            <a:r>
              <a:t>USER: prompt3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566160"/>
            <a:ext cx="155448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 b="1">
                <a:solidFill>
                  <a:srgbClr val="1E1E2E"/>
                </a:solidFill>
                <a:latin typeface="Segoe UI"/>
              </a:defRPr>
            </a:pPr>
            <a:r>
              <a:t>RESPONSE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1320" y="3566160"/>
            <a:ext cx="868680" cy="457200"/>
          </a:xfrm>
          <a:prstGeom prst="roundRect">
            <a:avLst/>
          </a:prstGeom>
          <a:solidFill>
            <a:srgbClr val="45475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  <a:latin typeface="Segoe UI"/>
              </a:defRPr>
            </a:pPr>
            <a:r>
              <a:t>(empty)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E3A1"/>
                </a:solidFill>
                <a:latin typeface="Segoe UI"/>
              </a:defRPr>
            </a:pPr>
            <a:r>
              <a:t>✅ SYSTEM prompt encoded ONCE — stays in KV cache for all turns</a:t>
            </a:r>
            <a:br/>
            <a:r>
              <a:t>✅ Each turn only pays the cost of new user prompt tokens</a:t>
            </a:r>
            <a:br/>
            <a:r>
              <a:t>✅ Model attends to full conversation history via cached K,V vectors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REWIND: llm_multiturn_rewind(n_turns)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Truncate KV cache back to a prior turn boundary via llama_kv_self_seq_rm()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Before REWIND 2: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109728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11887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 prompt1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13716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RESP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11887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 prompt2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13716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RESP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11887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 prompt3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45920"/>
            <a:ext cx="118872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RESP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25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8BA8"/>
                </a:solidFill>
                <a:latin typeface="Segoe UI"/>
              </a:defRPr>
            </a:pPr>
            <a:r>
              <a:t>──────── removed by REWIND 2 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8BA8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691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8BA8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691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8BA8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691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8BA8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8BA8"/>
                </a:solidFill>
                <a:latin typeface="Consolas"/>
              </a:defRPr>
            </a:pPr>
            <a:r>
              <a:t>▼  llama_kv_self_seq_rm(ctx, 0, turn_start[1], -1)  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After REWIND 2: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108960"/>
            <a:ext cx="13716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108960"/>
            <a:ext cx="16459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3108960"/>
            <a:ext cx="18288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108960"/>
            <a:ext cx="4023360" cy="457200"/>
          </a:xfrm>
          <a:prstGeom prst="roundRect">
            <a:avLst/>
          </a:prstGeom>
          <a:solidFill>
            <a:srgbClr val="45475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  <a:latin typeface="Segoe UI"/>
              </a:defRPr>
            </a:pPr>
            <a:r>
              <a:t>(available — context freed)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Segoe UI"/>
              </a:defRPr>
            </a:pPr>
            <a:r>
              <a:t>Next prompt: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114800"/>
            <a:ext cx="13716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4114800"/>
            <a:ext cx="16459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114800"/>
            <a:ext cx="18288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4114800"/>
            <a:ext cx="164592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USER: prompt4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14800"/>
            <a:ext cx="182880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1E1E2E"/>
                </a:solidFill>
                <a:latin typeface="Segoe UI"/>
              </a:defRPr>
            </a:pPr>
            <a:r>
              <a:t>RESPONSE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◄── preserved from turn 1 ──►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6E3A1"/>
                </a:solidFill>
                <a:latin typeface="Segoe UI"/>
              </a:defRPr>
            </a:pPr>
            <a:r>
              <a:t>◄─ new turn ─►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A6F7"/>
                </a:solidFill>
                <a:latin typeface="Consolas"/>
              </a:defRPr>
            </a:pPr>
            <a:r>
              <a:t>turn_starts[] tracks n_past at each turn boundary:</a:t>
            </a:r>
            <a:br/>
            <a:r>
              <a:t>  [0]=system_end  [1]=turn1_end  [2]=turn2_end  →  after REWIND 2: [0]=system_end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Multi-Turn API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572000" cy="502920"/>
          </a:xfrm>
          <a:prstGeom prst="roundRect">
            <a:avLst/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89B4FA"/>
                </a:solidFill>
                <a:latin typeface="Consolas"/>
              </a:defRPr>
            </a:pPr>
            <a:r>
              <a:t>llm_multiturn_begin(params)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61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Initialize session. Preserves PFC prefix if loaded, else clears KV.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4572000" cy="502920"/>
          </a:xfrm>
          <a:prstGeom prst="roundRect">
            <a:avLst/>
          </a:prstGeom>
          <a:solidFill>
            <a:srgbClr val="313244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A6E3A1"/>
                </a:solidFill>
                <a:latin typeface="Consolas"/>
              </a:defRPr>
            </a:pPr>
            <a:r>
              <a:t>llm_infer_multiturn(params)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9476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Tokenize &amp; decode params.prompt, generate response. KV accumulates.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4572000" cy="502920"/>
          </a:xfrm>
          <a:prstGeom prst="roundRect">
            <a:avLst/>
          </a:prstGeom>
          <a:solidFill>
            <a:srgbClr val="313244"/>
          </a:solidFill>
          <a:ln w="254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38BA8"/>
                </a:solidFill>
                <a:latin typeface="Consolas"/>
              </a:defRPr>
            </a:pPr>
            <a:r>
              <a:t>llm_multiturn_rewind(n)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6334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Drop last N turns. Uses llama_kv_self_seq_rm() to truncate KV.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4572000" cy="502920"/>
          </a:xfrm>
          <a:prstGeom prst="roundRect">
            <a:avLst/>
          </a:prstGeom>
          <a:solidFill>
            <a:srgbClr val="313244"/>
          </a:solidFill>
          <a:ln w="254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38BA8"/>
                </a:solidFill>
                <a:latin typeface="Consolas"/>
              </a:defRPr>
            </a:pPr>
            <a:r>
              <a:t>llm_multiturn_clear()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3192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Full KV clear + reset. Like starting a new conversation.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4572000" cy="502920"/>
          </a:xfrm>
          <a:prstGeom prst="roundRect">
            <a:avLst/>
          </a:prstGeom>
          <a:solidFill>
            <a:srgbClr val="313244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CBA6F7"/>
                </a:solidFill>
                <a:latin typeface="Consolas"/>
              </a:defRPr>
            </a:pPr>
            <a:r>
              <a:t>llm_multiturn_turn_count()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0050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Returns number of turns currently in KV cache.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17720"/>
            <a:ext cx="4572000" cy="502920"/>
          </a:xfrm>
          <a:prstGeom prst="roundRect">
            <a:avLst/>
          </a:prstGeom>
          <a:solidFill>
            <a:srgbClr val="313244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CBA6F7"/>
                </a:solidFill>
                <a:latin typeface="Consolas"/>
              </a:defRPr>
            </a:pPr>
            <a:r>
              <a:t>llm_multiturn_token_count()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690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Returns current n_past (total tokens in KV cache).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A6F7"/>
                </a:solidFill>
                <a:latin typeface="Consolas"/>
              </a:defRPr>
            </a:pPr>
            <a:r>
              <a:t>Caller pattern (minslm-multi.cpp):</a:t>
            </a:r>
            <a:br/>
            <a:r>
              <a:t>  llm_initialize(params);</a:t>
            </a:r>
            <a:br/>
            <a:r>
              <a:t>  llm_multiturn_begin(params);</a:t>
            </a:r>
            <a:br/>
            <a:r>
              <a:t>  params.stop_char = '}';           // caller controls stop condition</a:t>
            </a:r>
            <a:br/>
            <a:r>
              <a:t>  for each prompt:</a:t>
            </a:r>
            <a:br/>
            <a:r>
              <a:t>      params.prompt = format(turn_template, user_msg);</a:t>
            </a:r>
            <a:br/>
            <a:r>
              <a:t>      llm_infer_multiturn(params);   // KV cache grows</a:t>
            </a:r>
            <a:br/>
            <a:r>
              <a:t>  llm_terminate(params);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How Positions Work (Key Insight)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A6F7"/>
                </a:solidFill>
                <a:latin typeface="Consolas"/>
              </a:defRPr>
            </a:pPr>
            <a:r>
              <a:t>llama_batch_get_one() sets pos = nullptr</a:t>
            </a:r>
            <a:br/>
            <a:r>
              <a:t>→ llama_batch_allocr::init() auto-derives: pos = memory-&gt;seq_pos_max(s)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After Turn 1: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03120"/>
            <a:ext cx="9144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SYS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103120"/>
            <a:ext cx="91440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U:p1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03120"/>
            <a:ext cx="109728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pos: 0..9    10..19    20..34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40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A6F7"/>
                </a:solidFill>
                <a:latin typeface="Consolas"/>
              </a:defRPr>
            </a:pPr>
            <a:r>
              <a:t>seq_pos_max(0) =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Turn 2 decode: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017520"/>
            <a:ext cx="9144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SYS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017520"/>
            <a:ext cx="91440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U:p1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017520"/>
            <a:ext cx="109728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R1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3017520"/>
            <a:ext cx="91440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1546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  <a:latin typeface="Consolas"/>
              </a:defRPr>
            </a:pPr>
            <a:r>
              <a:t>new tokens auto-start at pos 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After REWIND 1: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931920"/>
            <a:ext cx="9144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SYS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931920"/>
            <a:ext cx="91440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U:p1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931920"/>
            <a:ext cx="109728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R1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931920"/>
            <a:ext cx="1828800" cy="457200"/>
          </a:xfrm>
          <a:prstGeom prst="roundRect">
            <a:avLst/>
          </a:prstGeom>
          <a:solidFill>
            <a:srgbClr val="45475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  <a:latin typeface="Segoe UI"/>
              </a:defRPr>
            </a:pPr>
            <a:r>
              <a:t>removed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8BA8"/>
                </a:solidFill>
                <a:latin typeface="Consolas"/>
              </a:defRPr>
            </a:pPr>
            <a:r>
              <a:t>seq_pos_max(0) = 34 again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Turn 3 decode: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846320"/>
            <a:ext cx="914400" cy="45720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SYS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846320"/>
            <a:ext cx="91440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U:p1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846320"/>
            <a:ext cx="1097280" cy="457200"/>
          </a:xfrm>
          <a:prstGeom prst="round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R1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4846320"/>
            <a:ext cx="914400" cy="45720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1E1E2E"/>
                </a:solidFill>
                <a:latin typeface="Segoe UI"/>
              </a:defRPr>
            </a:pPr>
            <a:r>
              <a:t>U:p3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  <a:latin typeface="Consolas"/>
              </a:defRPr>
            </a:pPr>
            <a:r>
              <a:t>auto-starts at pos 35 (correct!)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BA6F7"/>
                </a:solidFill>
                <a:latin typeface="Segoe UI"/>
              </a:defRPr>
            </a:pPr>
            <a:r>
              <a:t>No manual position tracking needed — llama.cpp derives positions from KV cache 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